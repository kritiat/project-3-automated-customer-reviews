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Bn+EFciYneYlzxfrF+KiYRbBV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8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149840" y="-1280160"/>
            <a:ext cx="4114800" cy="4114800"/>
          </a:xfrm>
          <a:prstGeom prst="ellipse">
            <a:avLst/>
          </a:prstGeom>
          <a:solidFill>
            <a:srgbClr val="2C4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2C4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C6F2F"/>
                </a:solidFill>
                <a:latin typeface="Calibri"/>
                <a:ea typeface="Calibri"/>
                <a:cs typeface="Calibri"/>
                <a:sym typeface="Calibri"/>
              </a:rPr>
              <a:t>VOL. I — CUSTOMER REVIEW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7830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EFEAD9"/>
                </a:solidFill>
                <a:latin typeface="Cambria"/>
                <a:ea typeface="Cambria"/>
                <a:cs typeface="Cambria"/>
                <a:sym typeface="Cambria"/>
              </a:rPr>
              <a:t>Field Notes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9718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FEAD9"/>
                </a:solidFill>
                <a:latin typeface="Calibri"/>
                <a:ea typeface="Calibri"/>
                <a:cs typeface="Calibri"/>
                <a:sym typeface="Calibri"/>
              </a:rPr>
              <a:t>Turning thousands of Amazon reviews into decisions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FEAD9"/>
                </a:solidFill>
                <a:latin typeface="Calibri"/>
                <a:ea typeface="Calibri"/>
                <a:cs typeface="Calibri"/>
                <a:sym typeface="Calibri"/>
              </a:rPr>
              <a:t>stakeholders can actually use.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22950" y="4630975"/>
            <a:ext cx="63651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Kriti Amin | Ironhack GmbH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C6F2F"/>
                </a:solidFill>
                <a:latin typeface="Calibri"/>
                <a:ea typeface="Calibri"/>
                <a:cs typeface="Calibri"/>
                <a:sym typeface="Calibri"/>
              </a:rPr>
              <a:t>ONE PIPELINE, FOUR STAGES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7315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From raw data to a usable product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77240" y="1783080"/>
            <a:ext cx="1188720" cy="1188720"/>
          </a:xfrm>
          <a:prstGeom prst="ellipse">
            <a:avLst/>
          </a:prstGeom>
          <a:solidFill>
            <a:srgbClr val="3F5C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ntiment_white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20802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320040" y="31089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Sentiment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368503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DistilBERT classifies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every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arrow_ink.png" id="33" name="Google Shape;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4560" y="22128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3566160" y="1783080"/>
            <a:ext cx="1188720" cy="1188720"/>
          </a:xfrm>
          <a:prstGeom prst="ellipse">
            <a:avLst/>
          </a:prstGeom>
          <a:solidFill>
            <a:srgbClr val="8C6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ustering_white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3340" y="20802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3108960" y="31089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Product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Clustering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108960" y="368503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TF-IDF + KMeans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groups products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arrow_ink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2128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6355080" y="1783080"/>
            <a:ext cx="1188720" cy="1188720"/>
          </a:xfrm>
          <a:prstGeom prst="ellipse">
            <a:avLst/>
          </a:prstGeom>
          <a:solidFill>
            <a:srgbClr val="9C3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ummarization_white.png" id="40" name="Google Shape;4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2260" y="20802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5897880" y="31089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Review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Summarization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897880" y="368503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OpenAI write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category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arrow_ink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22128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9144000" y="1783080"/>
            <a:ext cx="1188720" cy="1188720"/>
          </a:xfrm>
          <a:prstGeom prst="ellipse">
            <a:avLst/>
          </a:prstGeom>
          <a:solidFill>
            <a:srgbClr val="2C4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ebapp_white.png" id="45" name="Google Shape;4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41180" y="20802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8686800" y="31089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Web App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686800" y="368503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React + FastAPI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ships it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05840" y="4434840"/>
            <a:ext cx="3383280" cy="1417320"/>
          </a:xfrm>
          <a:prstGeom prst="roundRect">
            <a:avLst>
              <a:gd fmla="val 5161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234440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30744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234440" y="5349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REVIEWS ANALYZED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09160" y="4434840"/>
            <a:ext cx="3383280" cy="1417320"/>
          </a:xfrm>
          <a:prstGeom prst="roundRect">
            <a:avLst>
              <a:gd fmla="val 5161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937760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60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937760" y="5349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UNIQUE PRODUCTS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412480" y="4434840"/>
            <a:ext cx="3383280" cy="1417320"/>
          </a:xfrm>
          <a:prstGeom prst="roundRect">
            <a:avLst>
              <a:gd fmla="val 5161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641080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641085" y="533549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PRODUCT CATEGORIES MAPPED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C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5C40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7315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Sentiment Analysis — DistilBERT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1828800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81F"/>
                </a:solidFill>
                <a:latin typeface="Calibri"/>
                <a:ea typeface="Calibri"/>
                <a:cs typeface="Calibri"/>
                <a:sym typeface="Calibri"/>
              </a:rPr>
              <a:t>Fine-tuned distilbert-base-uncased for 3-class sentiment (negative / neutral / positive), derived from star ratings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22281F"/>
                </a:solidFill>
                <a:latin typeface="Calibri"/>
                <a:ea typeface="Calibri"/>
                <a:cs typeface="Calibri"/>
                <a:sym typeface="Calibri"/>
              </a:rPr>
              <a:t>Undersampled data and C</a:t>
            </a:r>
            <a:r>
              <a:rPr b="0" i="0" lang="en-US" sz="1500" u="none" cap="none" strike="noStrike">
                <a:solidFill>
                  <a:srgbClr val="22281F"/>
                </a:solidFill>
                <a:latin typeface="Calibri"/>
                <a:ea typeface="Calibri"/>
                <a:cs typeface="Calibri"/>
                <a:sym typeface="Calibri"/>
              </a:rPr>
              <a:t>lass-weighted loss handles the natural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22281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81F"/>
                </a:solidFill>
                <a:latin typeface="Calibri"/>
                <a:ea typeface="Calibri"/>
                <a:cs typeface="Calibri"/>
                <a:sym typeface="Calibri"/>
              </a:rPr>
              <a:t>Dynamically quantized after training: int8 linear layers cut deployed model size for the live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pu_moss.png"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5349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6492240" y="17830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TRAINING DATA — LABEL DISTRIBUTION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92240" y="2240280"/>
            <a:ext cx="5120640" cy="914400"/>
          </a:xfrm>
          <a:prstGeom prst="roundRect">
            <a:avLst>
              <a:gd fmla="val 8000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humbsup_moss.png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0" y="24414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7406640" y="231343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27762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406640" y="27432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Positive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92240" y="3337560"/>
            <a:ext cx="5120640" cy="914400"/>
          </a:xfrm>
          <a:prstGeom prst="roundRect">
            <a:avLst>
              <a:gd fmla="val 8000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humbsdown_rust.png" id="72" name="Google Shape;7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35387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7406640" y="34107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1653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406640" y="38404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Negative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92240" y="4434840"/>
            <a:ext cx="5120640" cy="914400"/>
          </a:xfrm>
          <a:prstGeom prst="roundRect">
            <a:avLst>
              <a:gd fmla="val 8000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neutral_ochre.png" id="76" name="Google Shape;7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0840" y="46360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7406640" y="450799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1329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406640" y="4937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Neutral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851" y="4041651"/>
            <a:ext cx="3357601" cy="23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/>
        </p:nvSpPr>
        <p:spPr>
          <a:xfrm>
            <a:off x="8652250" y="2377500"/>
            <a:ext cx="155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/>
              <a:t>~90%</a:t>
            </a:r>
            <a:endParaRPr i="1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C6F2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" y="7315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Product Clustering — TF-IDF + KMeans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50" y="1600200"/>
            <a:ext cx="751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400"/>
              <a:buFont typeface="Calibri"/>
              <a:buNone/>
            </a:pPr>
            <a:r>
              <a:rPr lang="en-US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4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Review text is vectorized with TF-IDF and grouped with KMeans into </a:t>
            </a:r>
            <a:r>
              <a:rPr b="1" i="1" lang="en-US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1" lang="en-US" sz="14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categories, each named by inspecting its top-weighted terms.</a:t>
            </a:r>
            <a:endParaRPr>
              <a:solidFill>
                <a:srgbClr val="565B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400"/>
              <a:buFont typeface="Calibri"/>
              <a:buNone/>
            </a:pPr>
            <a:r>
              <a:rPr lang="en-US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-Combined product name and sub-categories to enrich data</a:t>
            </a:r>
            <a:endParaRPr>
              <a:solidFill>
                <a:srgbClr val="565B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2794860"/>
            <a:ext cx="2331600" cy="1051500"/>
          </a:xfrm>
          <a:prstGeom prst="roundRect">
            <a:avLst>
              <a:gd fmla="val 6957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31520" y="2868012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27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31520" y="3416652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108960" y="2794860"/>
            <a:ext cx="2331600" cy="1051500"/>
          </a:xfrm>
          <a:prstGeom prst="roundRect">
            <a:avLst>
              <a:gd fmla="val 6957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291840" y="2868012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16,157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291840" y="3416652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669280" y="2794860"/>
            <a:ext cx="2331600" cy="1051500"/>
          </a:xfrm>
          <a:prstGeom prst="roundRect">
            <a:avLst>
              <a:gd fmla="val 6957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852160" y="2868012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4.56 / 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852160" y="3416652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AVG. RATING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layers_ochre.png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240" y="2468880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548640" y="416646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TOP 3 PRODUCTS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453222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81F"/>
                </a:solidFill>
                <a:latin typeface="Calibri"/>
                <a:ea typeface="Calibri"/>
                <a:cs typeface="Calibri"/>
                <a:sym typeface="Calibri"/>
              </a:rPr>
              <a:t>1. Fire HD 8 Tablet with Alexa, Tangerine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532120" y="453222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C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5C40"/>
                </a:solidFill>
                <a:latin typeface="Calibri"/>
                <a:ea typeface="Calibri"/>
                <a:cs typeface="Calibri"/>
                <a:sym typeface="Calibri"/>
              </a:rPr>
              <a:t>4.60 /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492240" y="453222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2,441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8640" y="498942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81F"/>
                </a:solidFill>
                <a:latin typeface="Calibri"/>
                <a:ea typeface="Calibri"/>
                <a:cs typeface="Calibri"/>
                <a:sym typeface="Calibri"/>
              </a:rPr>
              <a:t>2. All-New Fire HD 8 Tablet, Black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532120" y="498942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C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5C40"/>
                </a:solidFill>
                <a:latin typeface="Calibri"/>
                <a:ea typeface="Calibri"/>
                <a:cs typeface="Calibri"/>
                <a:sym typeface="Calibri"/>
              </a:rPr>
              <a:t>4.58 /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92240" y="498942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2,369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" y="544662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81F"/>
                </a:solidFill>
                <a:latin typeface="Calibri"/>
                <a:ea typeface="Calibri"/>
                <a:cs typeface="Calibri"/>
                <a:sym typeface="Calibri"/>
              </a:rPr>
              <a:t>3. Fire Kids Edition Tablet, Pink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532120" y="544662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C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5C40"/>
                </a:solidFill>
                <a:latin typeface="Calibri"/>
                <a:ea typeface="Calibri"/>
                <a:cs typeface="Calibri"/>
                <a:sym typeface="Calibri"/>
              </a:rPr>
              <a:t>4.53 /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492240" y="544662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1,663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425" y="1277925"/>
            <a:ext cx="3177226" cy="23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5675" y="3736750"/>
            <a:ext cx="3592452" cy="21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3B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3B27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48640" y="7315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Turning Reviews into Blog-Style Reports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22960" y="1737360"/>
            <a:ext cx="960120" cy="960120"/>
          </a:xfrm>
          <a:prstGeom prst="ellipse">
            <a:avLst/>
          </a:prstGeom>
          <a:solidFill>
            <a:srgbClr val="3F5C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moss.pn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90" y="1977390"/>
            <a:ext cx="480060" cy="4800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320040" y="278892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Reviews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arrow_ink.png" id="121" name="Google Shape;1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680" y="20802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3566160" y="1737360"/>
            <a:ext cx="960120" cy="960120"/>
          </a:xfrm>
          <a:prstGeom prst="ellipse">
            <a:avLst/>
          </a:prstGeom>
          <a:solidFill>
            <a:srgbClr val="8C6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ummarization_white.png" id="123" name="Google Shape;1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6190" y="1977390"/>
            <a:ext cx="480060" cy="4800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3063240" y="278892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Summaries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arrow_ink.png"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0802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6309360" y="1737360"/>
            <a:ext cx="960120" cy="960120"/>
          </a:xfrm>
          <a:prstGeom prst="ellipse">
            <a:avLst/>
          </a:prstGeom>
          <a:solidFill>
            <a:srgbClr val="9C3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ummarization_white.png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9390" y="1977390"/>
            <a:ext cx="480060" cy="4800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5806440" y="278892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Category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Article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46845" y="4195370"/>
            <a:ext cx="5394900" cy="1920300"/>
          </a:xfrm>
          <a:prstGeom prst="roundRect">
            <a:avLst>
              <a:gd fmla="val 3810" name="adj"/>
            </a:avLst>
          </a:prstGeom>
          <a:solidFill>
            <a:srgbClr val="EFE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975445" y="4423970"/>
            <a:ext cx="109800" cy="457200"/>
          </a:xfrm>
          <a:prstGeom prst="roundRect">
            <a:avLst>
              <a:gd fmla="val 16667" name="adj"/>
            </a:avLst>
          </a:prstGeom>
          <a:solidFill>
            <a:srgbClr val="9C3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204045" y="4396538"/>
            <a:ext cx="466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2281F"/>
                </a:solidFill>
                <a:latin typeface="Cambria"/>
                <a:ea typeface="Cambria"/>
                <a:cs typeface="Cambria"/>
                <a:sym typeface="Cambria"/>
              </a:rPr>
              <a:t>OpenAI GPT-4o-mini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204045" y="4972610"/>
            <a:ext cx="4663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65B4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65B4E"/>
                </a:solidFill>
                <a:latin typeface="Calibri"/>
                <a:ea typeface="Calibri"/>
                <a:cs typeface="Calibri"/>
                <a:sym typeface="Calibri"/>
              </a:rPr>
              <a:t>Noticeably more natural prose; used for the articles shipped in the live app.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4950" y="3669025"/>
            <a:ext cx="4151875" cy="20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81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2C4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C6F2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EAD9"/>
                </a:solidFill>
                <a:latin typeface="Cambria"/>
                <a:ea typeface="Cambria"/>
                <a:cs typeface="Cambria"/>
                <a:sym typeface="Cambria"/>
              </a:rPr>
              <a:t>From notebooks to a live product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22960" y="1874520"/>
            <a:ext cx="1005840" cy="1005840"/>
          </a:xfrm>
          <a:prstGeom prst="ellipse">
            <a:avLst/>
          </a:prstGeom>
          <a:solidFill>
            <a:srgbClr val="2C4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ebapp_paper.png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21259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274320" y="30175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EAD9"/>
                </a:solidFill>
                <a:latin typeface="Cambria"/>
                <a:ea typeface="Cambria"/>
                <a:cs typeface="Cambria"/>
                <a:sym typeface="Cambria"/>
              </a:rPr>
              <a:t>React 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74320" y="3383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EAD9"/>
                </a:solidFill>
                <a:latin typeface="Calibri"/>
                <a:ea typeface="Calibri"/>
                <a:cs typeface="Calibri"/>
                <a:sym typeface="Calibri"/>
              </a:rPr>
              <a:t>Deployed on Vercel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arrow_paper.png" id="146" name="Google Shape;1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8840" y="2240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4617720" y="1874520"/>
            <a:ext cx="1005840" cy="1005840"/>
          </a:xfrm>
          <a:prstGeom prst="ellipse">
            <a:avLst/>
          </a:prstGeom>
          <a:solidFill>
            <a:srgbClr val="9C3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pu_paper.png" id="148" name="Google Shape;1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9180" y="21259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4069080" y="30175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EAD9"/>
                </a:solidFill>
                <a:latin typeface="Cambria"/>
                <a:ea typeface="Cambria"/>
                <a:cs typeface="Cambria"/>
                <a:sym typeface="Cambria"/>
              </a:rPr>
              <a:t>FastAPI 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069080" y="3383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EAD9"/>
                </a:solidFill>
                <a:latin typeface="Calibri"/>
                <a:ea typeface="Calibri"/>
                <a:cs typeface="Calibri"/>
                <a:sym typeface="Calibri"/>
              </a:rPr>
              <a:t>Deployed on Render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arrow_paper.png"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240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8412480" y="1874520"/>
            <a:ext cx="1005840" cy="1005840"/>
          </a:xfrm>
          <a:prstGeom prst="ellipse">
            <a:avLst/>
          </a:prstGeom>
          <a:solidFill>
            <a:srgbClr val="2C4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paper.png" id="153" name="Google Shape;1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3940" y="21259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7863840" y="30175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EAD9"/>
                </a:solidFill>
                <a:latin typeface="Cambria"/>
                <a:ea typeface="Cambria"/>
                <a:cs typeface="Cambria"/>
                <a:sym typeface="Cambria"/>
              </a:rPr>
              <a:t>Models &amp;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863840" y="3383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EAD9"/>
                </a:solidFill>
                <a:latin typeface="Calibri"/>
                <a:ea typeface="Calibri"/>
                <a:cs typeface="Calibri"/>
                <a:sym typeface="Calibri"/>
              </a:rPr>
              <a:t>DistilBERT · TF-IDF/KMeans · Articles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22960" y="4114800"/>
            <a:ext cx="5349240" cy="1417320"/>
          </a:xfrm>
          <a:prstGeom prst="roundRect">
            <a:avLst>
              <a:gd fmla="val 5161" name="adj"/>
            </a:avLst>
          </a:prstGeom>
          <a:solidFill>
            <a:srgbClr val="2C4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moss.png" id="157" name="Google Shape;15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7280" y="4389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1737360" y="431596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FEAD9"/>
                </a:solidFill>
                <a:latin typeface="Cambria"/>
                <a:ea typeface="Cambria"/>
                <a:cs typeface="Cambria"/>
                <a:sym typeface="Cambria"/>
              </a:rPr>
              <a:t>Inspect a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737360" y="4736592"/>
            <a:ext cx="4160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EAD9"/>
                </a:solidFill>
                <a:latin typeface="Calibri"/>
                <a:ea typeface="Calibri"/>
                <a:cs typeface="Calibri"/>
                <a:sym typeface="Calibri"/>
              </a:rPr>
              <a:t>Paste any review, get an instant sentiment verdict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446520" y="4114800"/>
            <a:ext cx="5349240" cy="1417320"/>
          </a:xfrm>
          <a:prstGeom prst="roundRect">
            <a:avLst>
              <a:gd fmla="val 5161" name="adj"/>
            </a:avLst>
          </a:prstGeom>
          <a:solidFill>
            <a:srgbClr val="2C4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moss.png" id="161" name="Google Shape;16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0840" y="4389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7360920" y="431596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FEAD9"/>
                </a:solidFill>
                <a:latin typeface="Cambria"/>
                <a:ea typeface="Cambria"/>
                <a:cs typeface="Cambria"/>
                <a:sym typeface="Cambria"/>
              </a:rPr>
              <a:t>Category Reports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360920" y="4736592"/>
            <a:ext cx="4160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E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EAD9"/>
                </a:solidFill>
                <a:latin typeface="Calibri"/>
                <a:ea typeface="Calibri"/>
                <a:cs typeface="Calibri"/>
                <a:sym typeface="Calibri"/>
              </a:rPr>
              <a:t>Browse all 5 categories: article + stats + top/worst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" y="59893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2F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8C6F2F"/>
                </a:solidFill>
                <a:latin typeface="Cambria"/>
                <a:ea typeface="Cambria"/>
                <a:cs typeface="Cambria"/>
                <a:sym typeface="Cambria"/>
              </a:rPr>
              <a:t>Field Notes — built to be used, not just demoed.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2026-07-24T08:59:17Z</dcterms:created>
  <dc:creator>PptxGenJS</dc:creator>
</cp:coreProperties>
</file>